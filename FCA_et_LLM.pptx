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Work Sans"/>
      <p:regular r:id="rId28"/>
      <p:bold r:id="rId29"/>
      <p:italic r:id="rId30"/>
      <p:boldItalic r:id="rId31"/>
    </p:embeddedFont>
    <p:embeddedFont>
      <p:font typeface="Noto Sans Symbols"/>
      <p:regular r:id="rId32"/>
      <p:bold r:id="rId33"/>
    </p:embeddedFont>
    <p:embeddedFont>
      <p:font typeface="Albert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g6jcM19uiOr2ali4oSbdvO9cc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14995F-D36E-41BB-952E-FFB9BBE608AE}">
  <a:tblStyle styleId="{9D14995F-D36E-41BB-952E-FFB9BBE608A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WorkSa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-boldItalic.fntdata"/><Relationship Id="rId30" Type="http://schemas.openxmlformats.org/officeDocument/2006/relationships/font" Target="fonts/WorkSans-italic.fntdata"/><Relationship Id="rId11" Type="http://schemas.openxmlformats.org/officeDocument/2006/relationships/slide" Target="slides/slide6.xml"/><Relationship Id="rId33" Type="http://schemas.openxmlformats.org/officeDocument/2006/relationships/font" Target="fonts/NotoSansSymbols-bold.fntdata"/><Relationship Id="rId10" Type="http://schemas.openxmlformats.org/officeDocument/2006/relationships/slide" Target="slides/slide5.xml"/><Relationship Id="rId32" Type="http://schemas.openxmlformats.org/officeDocument/2006/relationships/font" Target="fonts/NotoSansSymbols-regular.fntdata"/><Relationship Id="rId13" Type="http://schemas.openxmlformats.org/officeDocument/2006/relationships/slide" Target="slides/slide8.xml"/><Relationship Id="rId35" Type="http://schemas.openxmlformats.org/officeDocument/2006/relationships/font" Target="fonts/AlbertSans-bold.fntdata"/><Relationship Id="rId12" Type="http://schemas.openxmlformats.org/officeDocument/2006/relationships/slide" Target="slides/slide7.xml"/><Relationship Id="rId34" Type="http://schemas.openxmlformats.org/officeDocument/2006/relationships/font" Target="fonts/AlbertSans-regular.fntdata"/><Relationship Id="rId15" Type="http://schemas.openxmlformats.org/officeDocument/2006/relationships/slide" Target="slides/slide10.xml"/><Relationship Id="rId37" Type="http://schemas.openxmlformats.org/officeDocument/2006/relationships/font" Target="fonts/AlbertSans-boldItalic.fntdata"/><Relationship Id="rId14" Type="http://schemas.openxmlformats.org/officeDocument/2006/relationships/slide" Target="slides/slide9.xml"/><Relationship Id="rId36" Type="http://schemas.openxmlformats.org/officeDocument/2006/relationships/font" Target="fonts/Albert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eae08aa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e4eae08aa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4eae08aa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e4eae08aa4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4eae08aa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e4eae08aa4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485fa2e1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e485fa2e12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4eae08aa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e4eae08aa4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485fa2e12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e485fa2e12_3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4eae08aa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e4eae08aa4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4eae08aa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e4eae08aa4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485fa2e12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e485fa2e12_3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4eae08aa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e4eae08aa4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485fa2e1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e485fa2e12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4"/>
          <p:cNvSpPr txBox="1"/>
          <p:nvPr>
            <p:ph type="title"/>
          </p:nvPr>
        </p:nvSpPr>
        <p:spPr>
          <a:xfrm>
            <a:off x="1623600" y="1760400"/>
            <a:ext cx="5896800" cy="1228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 type="blank">
  <p:cSld name="BLANK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5"/>
          <p:cNvSpPr txBox="1"/>
          <p:nvPr>
            <p:ph type="title"/>
          </p:nvPr>
        </p:nvSpPr>
        <p:spPr>
          <a:xfrm>
            <a:off x="4890960" y="1230120"/>
            <a:ext cx="3291120" cy="14983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1036080" y="970920"/>
            <a:ext cx="3203280" cy="32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4" name="Google Shape;14;p15"/>
          <p:cNvGrpSpPr/>
          <p:nvPr/>
        </p:nvGrpSpPr>
        <p:grpSpPr>
          <a:xfrm>
            <a:off x="175320" y="177480"/>
            <a:ext cx="8804880" cy="4788000"/>
            <a:chOff x="175320" y="177480"/>
            <a:chExt cx="8804880" cy="4788000"/>
          </a:xfrm>
        </p:grpSpPr>
        <p:grpSp>
          <p:nvGrpSpPr>
            <p:cNvPr id="15" name="Google Shape;15;p15"/>
            <p:cNvGrpSpPr/>
            <p:nvPr/>
          </p:nvGrpSpPr>
          <p:grpSpPr>
            <a:xfrm>
              <a:off x="175320" y="177480"/>
              <a:ext cx="626400" cy="625680"/>
              <a:chOff x="175320" y="177480"/>
              <a:chExt cx="626400" cy="625680"/>
            </a:xfrm>
          </p:grpSpPr>
          <p:sp>
            <p:nvSpPr>
              <p:cNvPr id="16" name="Google Shape;16;p15"/>
              <p:cNvSpPr/>
              <p:nvPr/>
            </p:nvSpPr>
            <p:spPr>
              <a:xfrm flipH="1">
                <a:off x="176040" y="177480"/>
                <a:ext cx="625680" cy="625680"/>
              </a:xfrm>
              <a:custGeom>
                <a:rect b="b" l="l" r="r" t="t"/>
                <a:pathLst>
                  <a:path extrusionOk="0" fill="none" h="14418" w="14418">
                    <a:moveTo>
                      <a:pt x="14418" y="14417"/>
                    </a:moveTo>
                    <a:cubicBezTo>
                      <a:pt x="6456" y="14417"/>
                      <a:pt x="1" y="796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rgbClr val="E3B369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" name="Google Shape;17;p15"/>
              <p:cNvSpPr/>
              <p:nvPr/>
            </p:nvSpPr>
            <p:spPr>
              <a:xfrm flipH="1">
                <a:off x="175320" y="177840"/>
                <a:ext cx="405000" cy="405000"/>
              </a:xfrm>
              <a:custGeom>
                <a:rect b="b" l="l" r="r" t="t"/>
                <a:pathLst>
                  <a:path extrusionOk="0" fill="none" h="9336" w="9336">
                    <a:moveTo>
                      <a:pt x="9336" y="9336"/>
                    </a:moveTo>
                    <a:cubicBezTo>
                      <a:pt x="4179" y="9336"/>
                      <a:pt x="0" y="5156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E3B369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8" name="Google Shape;18;p15"/>
            <p:cNvGrpSpPr/>
            <p:nvPr/>
          </p:nvGrpSpPr>
          <p:grpSpPr>
            <a:xfrm>
              <a:off x="8354520" y="4339800"/>
              <a:ext cx="625680" cy="625680"/>
              <a:chOff x="8354520" y="4339800"/>
              <a:chExt cx="625680" cy="625680"/>
            </a:xfrm>
          </p:grpSpPr>
          <p:sp>
            <p:nvSpPr>
              <p:cNvPr id="19" name="Google Shape;19;p15"/>
              <p:cNvSpPr/>
              <p:nvPr/>
            </p:nvSpPr>
            <p:spPr>
              <a:xfrm flipH="1" rot="10800000">
                <a:off x="8354520" y="4339800"/>
                <a:ext cx="625680" cy="625680"/>
              </a:xfrm>
              <a:custGeom>
                <a:rect b="b" l="l" r="r" t="t"/>
                <a:pathLst>
                  <a:path extrusionOk="0" fill="none" h="14418" w="14418">
                    <a:moveTo>
                      <a:pt x="14418" y="14417"/>
                    </a:moveTo>
                    <a:cubicBezTo>
                      <a:pt x="6456" y="14417"/>
                      <a:pt x="1" y="796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rgbClr val="E3B369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" name="Google Shape;20;p15"/>
              <p:cNvSpPr/>
              <p:nvPr/>
            </p:nvSpPr>
            <p:spPr>
              <a:xfrm flipH="1" rot="10800000">
                <a:off x="8575200" y="4559760"/>
                <a:ext cx="405000" cy="405000"/>
              </a:xfrm>
              <a:custGeom>
                <a:rect b="b" l="l" r="r" t="t"/>
                <a:pathLst>
                  <a:path extrusionOk="0" fill="none" h="9336" w="9336">
                    <a:moveTo>
                      <a:pt x="9336" y="9336"/>
                    </a:moveTo>
                    <a:cubicBezTo>
                      <a:pt x="4179" y="9336"/>
                      <a:pt x="0" y="5156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E3B369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1" name="Google Shape;21;p15"/>
          <p:cNvGrpSpPr/>
          <p:nvPr/>
        </p:nvGrpSpPr>
        <p:grpSpPr>
          <a:xfrm>
            <a:off x="169560" y="545400"/>
            <a:ext cx="8798400" cy="4058640"/>
            <a:chOff x="169560" y="545400"/>
            <a:chExt cx="8798400" cy="4058640"/>
          </a:xfrm>
        </p:grpSpPr>
        <p:cxnSp>
          <p:nvCxnSpPr>
            <p:cNvPr id="22" name="Google Shape;22;p15"/>
            <p:cNvCxnSpPr/>
            <p:nvPr/>
          </p:nvCxnSpPr>
          <p:spPr>
            <a:xfrm flipH="1">
              <a:off x="691560" y="545400"/>
              <a:ext cx="8276400" cy="360"/>
            </a:xfrm>
            <a:prstGeom prst="straightConnector1">
              <a:avLst/>
            </a:prstGeom>
            <a:noFill/>
            <a:ln cap="flat" cmpd="sng" w="9525">
              <a:solidFill>
                <a:srgbClr val="E3B3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" name="Google Shape;23;p15"/>
            <p:cNvCxnSpPr/>
            <p:nvPr/>
          </p:nvCxnSpPr>
          <p:spPr>
            <a:xfrm flipH="1">
              <a:off x="169560" y="4603680"/>
              <a:ext cx="8295840" cy="360"/>
            </a:xfrm>
            <a:prstGeom prst="straightConnector1">
              <a:avLst/>
            </a:prstGeom>
            <a:noFill/>
            <a:ln cap="flat" cmpd="sng" w="9525">
              <a:solidFill>
                <a:srgbClr val="E3B36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" name="Google Shape;24;p15"/>
          <p:cNvSpPr/>
          <p:nvPr/>
        </p:nvSpPr>
        <p:spPr>
          <a:xfrm>
            <a:off x="169560" y="177840"/>
            <a:ext cx="8804160" cy="4787640"/>
          </a:xfrm>
          <a:custGeom>
            <a:rect b="b" l="l" r="r" t="t"/>
            <a:pathLst>
              <a:path extrusionOk="0" fill="none" h="92601" w="170276">
                <a:moveTo>
                  <a:pt x="170276" y="3559"/>
                </a:moveTo>
                <a:lnTo>
                  <a:pt x="170276" y="89042"/>
                </a:lnTo>
                <a:lnTo>
                  <a:pt x="168898" y="89042"/>
                </a:lnTo>
                <a:cubicBezTo>
                  <a:pt x="168600" y="89042"/>
                  <a:pt x="168319" y="89100"/>
                  <a:pt x="168062" y="89207"/>
                </a:cubicBezTo>
                <a:cubicBezTo>
                  <a:pt x="167795" y="89320"/>
                  <a:pt x="167553" y="89483"/>
                  <a:pt x="167350" y="89686"/>
                </a:cubicBezTo>
                <a:cubicBezTo>
                  <a:pt x="167148" y="89888"/>
                  <a:pt x="166986" y="90132"/>
                  <a:pt x="166875" y="90402"/>
                </a:cubicBezTo>
                <a:cubicBezTo>
                  <a:pt x="166775" y="90653"/>
                  <a:pt x="166718" y="90930"/>
                  <a:pt x="166718" y="91218"/>
                </a:cubicBezTo>
                <a:lnTo>
                  <a:pt x="166718" y="92601"/>
                </a:lnTo>
                <a:lnTo>
                  <a:pt x="3558" y="92601"/>
                </a:lnTo>
                <a:lnTo>
                  <a:pt x="3558" y="91218"/>
                </a:lnTo>
                <a:cubicBezTo>
                  <a:pt x="3558" y="90018"/>
                  <a:pt x="2582" y="89042"/>
                  <a:pt x="1379" y="89042"/>
                </a:cubicBezTo>
                <a:lnTo>
                  <a:pt x="0" y="89042"/>
                </a:lnTo>
                <a:lnTo>
                  <a:pt x="0" y="3559"/>
                </a:lnTo>
                <a:lnTo>
                  <a:pt x="1379" y="3559"/>
                </a:lnTo>
                <a:cubicBezTo>
                  <a:pt x="2582" y="3559"/>
                  <a:pt x="3558" y="2583"/>
                  <a:pt x="3558" y="1380"/>
                </a:cubicBezTo>
                <a:lnTo>
                  <a:pt x="3558" y="1"/>
                </a:lnTo>
                <a:lnTo>
                  <a:pt x="166718" y="1"/>
                </a:lnTo>
                <a:lnTo>
                  <a:pt x="166718" y="1380"/>
                </a:lnTo>
                <a:cubicBezTo>
                  <a:pt x="166718" y="2583"/>
                  <a:pt x="167695" y="3559"/>
                  <a:pt x="168898" y="3559"/>
                </a:cubicBezTo>
                <a:close/>
              </a:path>
            </a:pathLst>
          </a:custGeom>
          <a:noFill/>
          <a:ln cap="flat" cmpd="sng" w="9525">
            <a:solidFill>
              <a:srgbClr val="E3B36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6"/>
          <p:cNvSpPr txBox="1"/>
          <p:nvPr>
            <p:ph type="title"/>
          </p:nvPr>
        </p:nvSpPr>
        <p:spPr>
          <a:xfrm>
            <a:off x="720000" y="5421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6"/>
          <p:cNvSpPr txBox="1"/>
          <p:nvPr>
            <p:ph idx="1" type="body"/>
          </p:nvPr>
        </p:nvSpPr>
        <p:spPr>
          <a:xfrm>
            <a:off x="720000" y="1233720"/>
            <a:ext cx="7703640" cy="34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9" name="Google Shape;29;p16"/>
          <p:cNvGrpSpPr/>
          <p:nvPr/>
        </p:nvGrpSpPr>
        <p:grpSpPr>
          <a:xfrm>
            <a:off x="175320" y="177480"/>
            <a:ext cx="8804880" cy="4788000"/>
            <a:chOff x="175320" y="177480"/>
            <a:chExt cx="8804880" cy="4788000"/>
          </a:xfrm>
        </p:grpSpPr>
        <p:grpSp>
          <p:nvGrpSpPr>
            <p:cNvPr id="30" name="Google Shape;30;p16"/>
            <p:cNvGrpSpPr/>
            <p:nvPr/>
          </p:nvGrpSpPr>
          <p:grpSpPr>
            <a:xfrm>
              <a:off x="175320" y="177480"/>
              <a:ext cx="626400" cy="625680"/>
              <a:chOff x="175320" y="177480"/>
              <a:chExt cx="626400" cy="625680"/>
            </a:xfrm>
          </p:grpSpPr>
          <p:sp>
            <p:nvSpPr>
              <p:cNvPr id="31" name="Google Shape;31;p16"/>
              <p:cNvSpPr/>
              <p:nvPr/>
            </p:nvSpPr>
            <p:spPr>
              <a:xfrm flipH="1">
                <a:off x="176040" y="177480"/>
                <a:ext cx="625680" cy="625680"/>
              </a:xfrm>
              <a:custGeom>
                <a:rect b="b" l="l" r="r" t="t"/>
                <a:pathLst>
                  <a:path extrusionOk="0" fill="none" h="14418" w="14418">
                    <a:moveTo>
                      <a:pt x="14418" y="14417"/>
                    </a:moveTo>
                    <a:cubicBezTo>
                      <a:pt x="6456" y="14417"/>
                      <a:pt x="1" y="796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rgbClr val="E3B369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" name="Google Shape;32;p16"/>
              <p:cNvSpPr/>
              <p:nvPr/>
            </p:nvSpPr>
            <p:spPr>
              <a:xfrm flipH="1">
                <a:off x="175320" y="177840"/>
                <a:ext cx="405000" cy="405000"/>
              </a:xfrm>
              <a:custGeom>
                <a:rect b="b" l="l" r="r" t="t"/>
                <a:pathLst>
                  <a:path extrusionOk="0" fill="none" h="9336" w="9336">
                    <a:moveTo>
                      <a:pt x="9336" y="9336"/>
                    </a:moveTo>
                    <a:cubicBezTo>
                      <a:pt x="4179" y="9336"/>
                      <a:pt x="0" y="5156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E3B369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33" name="Google Shape;33;p16"/>
            <p:cNvGrpSpPr/>
            <p:nvPr/>
          </p:nvGrpSpPr>
          <p:grpSpPr>
            <a:xfrm>
              <a:off x="8354520" y="4339800"/>
              <a:ext cx="625680" cy="625680"/>
              <a:chOff x="8354520" y="4339800"/>
              <a:chExt cx="625680" cy="625680"/>
            </a:xfrm>
          </p:grpSpPr>
          <p:sp>
            <p:nvSpPr>
              <p:cNvPr id="34" name="Google Shape;34;p16"/>
              <p:cNvSpPr/>
              <p:nvPr/>
            </p:nvSpPr>
            <p:spPr>
              <a:xfrm flipH="1" rot="10800000">
                <a:off x="8354520" y="4339800"/>
                <a:ext cx="625680" cy="625680"/>
              </a:xfrm>
              <a:custGeom>
                <a:rect b="b" l="l" r="r" t="t"/>
                <a:pathLst>
                  <a:path extrusionOk="0" fill="none" h="14418" w="14418">
                    <a:moveTo>
                      <a:pt x="14418" y="14417"/>
                    </a:moveTo>
                    <a:cubicBezTo>
                      <a:pt x="6456" y="14417"/>
                      <a:pt x="1" y="796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rgbClr val="E3B369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" name="Google Shape;35;p16"/>
              <p:cNvSpPr/>
              <p:nvPr/>
            </p:nvSpPr>
            <p:spPr>
              <a:xfrm flipH="1" rot="10800000">
                <a:off x="8575200" y="4559760"/>
                <a:ext cx="405000" cy="405000"/>
              </a:xfrm>
              <a:custGeom>
                <a:rect b="b" l="l" r="r" t="t"/>
                <a:pathLst>
                  <a:path extrusionOk="0" fill="none" h="9336" w="9336">
                    <a:moveTo>
                      <a:pt x="9336" y="9336"/>
                    </a:moveTo>
                    <a:cubicBezTo>
                      <a:pt x="4179" y="9336"/>
                      <a:pt x="0" y="5156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E3B369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cxnSp>
        <p:nvCxnSpPr>
          <p:cNvPr id="36" name="Google Shape;36;p16"/>
          <p:cNvCxnSpPr/>
          <p:nvPr/>
        </p:nvCxnSpPr>
        <p:spPr>
          <a:xfrm flipH="1">
            <a:off x="685800" y="545400"/>
            <a:ext cx="8276760" cy="36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16"/>
          <p:cNvSpPr/>
          <p:nvPr/>
        </p:nvSpPr>
        <p:spPr>
          <a:xfrm>
            <a:off x="169560" y="177840"/>
            <a:ext cx="8804160" cy="4787640"/>
          </a:xfrm>
          <a:custGeom>
            <a:rect b="b" l="l" r="r" t="t"/>
            <a:pathLst>
              <a:path extrusionOk="0" fill="none" h="92601" w="170276">
                <a:moveTo>
                  <a:pt x="170276" y="3559"/>
                </a:moveTo>
                <a:lnTo>
                  <a:pt x="170276" y="89042"/>
                </a:lnTo>
                <a:lnTo>
                  <a:pt x="168898" y="89042"/>
                </a:lnTo>
                <a:cubicBezTo>
                  <a:pt x="168600" y="89042"/>
                  <a:pt x="168319" y="89100"/>
                  <a:pt x="168062" y="89207"/>
                </a:cubicBezTo>
                <a:cubicBezTo>
                  <a:pt x="167795" y="89320"/>
                  <a:pt x="167553" y="89483"/>
                  <a:pt x="167350" y="89686"/>
                </a:cubicBezTo>
                <a:cubicBezTo>
                  <a:pt x="167148" y="89888"/>
                  <a:pt x="166986" y="90132"/>
                  <a:pt x="166875" y="90402"/>
                </a:cubicBezTo>
                <a:cubicBezTo>
                  <a:pt x="166775" y="90653"/>
                  <a:pt x="166718" y="90930"/>
                  <a:pt x="166718" y="91218"/>
                </a:cubicBezTo>
                <a:lnTo>
                  <a:pt x="166718" y="92601"/>
                </a:lnTo>
                <a:lnTo>
                  <a:pt x="3558" y="92601"/>
                </a:lnTo>
                <a:lnTo>
                  <a:pt x="3558" y="91218"/>
                </a:lnTo>
                <a:cubicBezTo>
                  <a:pt x="3558" y="90018"/>
                  <a:pt x="2582" y="89042"/>
                  <a:pt x="1379" y="89042"/>
                </a:cubicBezTo>
                <a:lnTo>
                  <a:pt x="0" y="89042"/>
                </a:lnTo>
                <a:lnTo>
                  <a:pt x="0" y="3559"/>
                </a:lnTo>
                <a:lnTo>
                  <a:pt x="1379" y="3559"/>
                </a:lnTo>
                <a:cubicBezTo>
                  <a:pt x="2582" y="3559"/>
                  <a:pt x="3558" y="2583"/>
                  <a:pt x="3558" y="1380"/>
                </a:cubicBezTo>
                <a:lnTo>
                  <a:pt x="3558" y="1"/>
                </a:lnTo>
                <a:lnTo>
                  <a:pt x="166718" y="1"/>
                </a:lnTo>
                <a:lnTo>
                  <a:pt x="166718" y="1380"/>
                </a:lnTo>
                <a:cubicBezTo>
                  <a:pt x="166718" y="2583"/>
                  <a:pt x="167695" y="3559"/>
                  <a:pt x="168898" y="3559"/>
                </a:cubicBezTo>
                <a:close/>
              </a:path>
            </a:pathLst>
          </a:custGeom>
          <a:noFill/>
          <a:ln cap="flat" cmpd="sng" w="9525">
            <a:solidFill>
              <a:srgbClr val="E3B36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7"/>
          <p:cNvSpPr txBox="1"/>
          <p:nvPr>
            <p:ph type="title"/>
          </p:nvPr>
        </p:nvSpPr>
        <p:spPr>
          <a:xfrm>
            <a:off x="2347920" y="610560"/>
            <a:ext cx="44478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7"/>
          <p:cNvSpPr/>
          <p:nvPr/>
        </p:nvSpPr>
        <p:spPr>
          <a:xfrm>
            <a:off x="2386080" y="3516480"/>
            <a:ext cx="4371120" cy="55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i="0" lang="en-US" sz="1000" u="sng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i="0" lang="en-US" sz="1000" u="sng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i="0" lang="en-US" sz="1000" u="sng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-US" sz="1000" u="sng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0" i="0" sz="1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1.png"/><Relationship Id="rId6" Type="http://schemas.openxmlformats.org/officeDocument/2006/relationships/image" Target="../media/image12.jpg"/><Relationship Id="rId7" Type="http://schemas.openxmlformats.org/officeDocument/2006/relationships/image" Target="../media/image10.jp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OskrJF/TER-M1---Code-and-Test-sets/tree/main/Synthetics" TargetMode="External"/><Relationship Id="rId4" Type="http://schemas.openxmlformats.org/officeDocument/2006/relationships/hyperlink" Target="https://gite.lirmm.fr/gutierre/fca4j-benchmark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"/>
          <p:cNvGrpSpPr/>
          <p:nvPr/>
        </p:nvGrpSpPr>
        <p:grpSpPr>
          <a:xfrm>
            <a:off x="713520" y="473400"/>
            <a:ext cx="1137240" cy="1137600"/>
            <a:chOff x="713520" y="473400"/>
            <a:chExt cx="1137240" cy="1137600"/>
          </a:xfrm>
        </p:grpSpPr>
        <p:sp>
          <p:nvSpPr>
            <p:cNvPr id="47" name="Google Shape;47;p1"/>
            <p:cNvSpPr/>
            <p:nvPr/>
          </p:nvSpPr>
          <p:spPr>
            <a:xfrm rot="10800000">
              <a:off x="713520" y="473400"/>
              <a:ext cx="612000" cy="612000"/>
            </a:xfrm>
            <a:custGeom>
              <a:rect b="b" l="l" r="r" t="t"/>
              <a:pathLst>
                <a:path extrusionOk="0" fill="none" h="10269" w="10268">
                  <a:moveTo>
                    <a:pt x="1" y="10268"/>
                  </a:moveTo>
                  <a:cubicBezTo>
                    <a:pt x="1" y="9730"/>
                    <a:pt x="43" y="9201"/>
                    <a:pt x="122" y="8685"/>
                  </a:cubicBezTo>
                  <a:cubicBezTo>
                    <a:pt x="234" y="7966"/>
                    <a:pt x="419" y="7271"/>
                    <a:pt x="672" y="6609"/>
                  </a:cubicBezTo>
                  <a:cubicBezTo>
                    <a:pt x="929" y="5934"/>
                    <a:pt x="1255" y="5291"/>
                    <a:pt x="1643" y="4695"/>
                  </a:cubicBezTo>
                  <a:cubicBezTo>
                    <a:pt x="2035" y="4090"/>
                    <a:pt x="2486" y="3531"/>
                    <a:pt x="2992" y="3022"/>
                  </a:cubicBezTo>
                  <a:cubicBezTo>
                    <a:pt x="3498" y="2515"/>
                    <a:pt x="4056" y="2061"/>
                    <a:pt x="4657" y="1668"/>
                  </a:cubicBezTo>
                  <a:cubicBezTo>
                    <a:pt x="5252" y="1279"/>
                    <a:pt x="5891" y="947"/>
                    <a:pt x="6566" y="689"/>
                  </a:cubicBezTo>
                  <a:lnTo>
                    <a:pt x="6567" y="689"/>
                  </a:lnTo>
                  <a:cubicBezTo>
                    <a:pt x="7229" y="432"/>
                    <a:pt x="7920" y="243"/>
                    <a:pt x="8639" y="129"/>
                  </a:cubicBezTo>
                  <a:cubicBezTo>
                    <a:pt x="9168" y="43"/>
                    <a:pt x="9714" y="0"/>
                    <a:pt x="10267" y="0"/>
                  </a:cubicBez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" name="Google Shape;48;p1"/>
            <p:cNvSpPr/>
            <p:nvPr/>
          </p:nvSpPr>
          <p:spPr>
            <a:xfrm rot="10800000">
              <a:off x="810720" y="1078200"/>
              <a:ext cx="83160" cy="518400"/>
            </a:xfrm>
            <a:custGeom>
              <a:rect b="b" l="l" r="r" t="t"/>
              <a:pathLst>
                <a:path extrusionOk="0" fill="none" h="8701" w="1398">
                  <a:moveTo>
                    <a:pt x="1398" y="870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" name="Google Shape;49;p1"/>
            <p:cNvSpPr/>
            <p:nvPr/>
          </p:nvSpPr>
          <p:spPr>
            <a:xfrm rot="10800000">
              <a:off x="934560" y="1045080"/>
              <a:ext cx="189000" cy="489600"/>
            </a:xfrm>
            <a:custGeom>
              <a:rect b="b" l="l" r="r" t="t"/>
              <a:pathLst>
                <a:path extrusionOk="0" fill="none" h="8220" w="3178">
                  <a:moveTo>
                    <a:pt x="1" y="1"/>
                  </a:moveTo>
                  <a:lnTo>
                    <a:pt x="3177" y="8220"/>
                  </a:lnTo>
                  <a:lnTo>
                    <a:pt x="3178" y="8220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 rot="10800000">
              <a:off x="1047960" y="986760"/>
              <a:ext cx="286920" cy="439560"/>
            </a:xfrm>
            <a:custGeom>
              <a:rect b="b" l="l" r="r" t="t"/>
              <a:pathLst>
                <a:path extrusionOk="0" fill="none" h="7380" w="4816">
                  <a:moveTo>
                    <a:pt x="0" y="1"/>
                  </a:moveTo>
                  <a:lnTo>
                    <a:pt x="4815" y="7380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" name="Google Shape;51;p1"/>
            <p:cNvSpPr/>
            <p:nvPr/>
          </p:nvSpPr>
          <p:spPr>
            <a:xfrm rot="10800000">
              <a:off x="1147680" y="905400"/>
              <a:ext cx="371880" cy="370440"/>
            </a:xfrm>
            <a:custGeom>
              <a:rect b="b" l="l" r="r" t="t"/>
              <a:pathLst>
                <a:path extrusionOk="0" fill="none" h="6217" w="6243">
                  <a:moveTo>
                    <a:pt x="1" y="0"/>
                  </a:moveTo>
                  <a:lnTo>
                    <a:pt x="6242" y="6216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 rot="10800000">
              <a:off x="1227960" y="806040"/>
              <a:ext cx="441000" cy="284760"/>
            </a:xfrm>
            <a:custGeom>
              <a:rect b="b" l="l" r="r" t="t"/>
              <a:pathLst>
                <a:path extrusionOk="0" fill="none" h="4784" w="7401">
                  <a:moveTo>
                    <a:pt x="1" y="1"/>
                  </a:moveTo>
                  <a:lnTo>
                    <a:pt x="7400" y="4784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 rot="10800000">
              <a:off x="1285920" y="691920"/>
              <a:ext cx="490680" cy="186840"/>
            </a:xfrm>
            <a:custGeom>
              <a:rect b="b" l="l" r="r" t="t"/>
              <a:pathLst>
                <a:path extrusionOk="0" fill="none" h="3141" w="8234">
                  <a:moveTo>
                    <a:pt x="1" y="0"/>
                  </a:moveTo>
                  <a:lnTo>
                    <a:pt x="8233" y="3141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 rot="10800000">
              <a:off x="1318680" y="568080"/>
              <a:ext cx="518760" cy="80640"/>
            </a:xfrm>
            <a:custGeom>
              <a:rect b="b" l="l" r="r" t="t"/>
              <a:pathLst>
                <a:path extrusionOk="0" fill="none" h="1360" w="8706">
                  <a:moveTo>
                    <a:pt x="8705" y="1360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" name="Google Shape;55;p1"/>
            <p:cNvSpPr/>
            <p:nvPr/>
          </p:nvSpPr>
          <p:spPr>
            <a:xfrm rot="10800000">
              <a:off x="713880" y="473760"/>
              <a:ext cx="1136880" cy="1137240"/>
            </a:xfrm>
            <a:custGeom>
              <a:rect b="b" l="l" r="r" t="t"/>
              <a:pathLst>
                <a:path extrusionOk="0" fill="none" h="19080" w="19074">
                  <a:moveTo>
                    <a:pt x="1" y="19079"/>
                  </a:moveTo>
                  <a:cubicBezTo>
                    <a:pt x="1" y="18079"/>
                    <a:pt x="76" y="17097"/>
                    <a:pt x="226" y="16137"/>
                  </a:cubicBezTo>
                  <a:cubicBezTo>
                    <a:pt x="433" y="14801"/>
                    <a:pt x="779" y="13510"/>
                    <a:pt x="1248" y="12281"/>
                  </a:cubicBezTo>
                  <a:cubicBezTo>
                    <a:pt x="1724" y="11027"/>
                    <a:pt x="2332" y="9833"/>
                    <a:pt x="3051" y="8724"/>
                  </a:cubicBezTo>
                  <a:cubicBezTo>
                    <a:pt x="3779" y="7599"/>
                    <a:pt x="4619" y="6558"/>
                    <a:pt x="5556" y="5617"/>
                  </a:cubicBezTo>
                  <a:cubicBezTo>
                    <a:pt x="6496" y="4675"/>
                    <a:pt x="7532" y="3830"/>
                    <a:pt x="8649" y="3099"/>
                  </a:cubicBezTo>
                  <a:cubicBezTo>
                    <a:pt x="9754" y="2375"/>
                    <a:pt x="10944" y="1760"/>
                    <a:pt x="12195" y="1281"/>
                  </a:cubicBezTo>
                  <a:lnTo>
                    <a:pt x="12199" y="1281"/>
                  </a:lnTo>
                  <a:cubicBezTo>
                    <a:pt x="13429" y="803"/>
                    <a:pt x="14713" y="450"/>
                    <a:pt x="16047" y="240"/>
                  </a:cubicBezTo>
                  <a:cubicBezTo>
                    <a:pt x="17033" y="81"/>
                    <a:pt x="18045" y="1"/>
                    <a:pt x="19074" y="1"/>
                  </a:cubicBez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56" name="Google Shape;56;p1"/>
          <p:cNvCxnSpPr/>
          <p:nvPr/>
        </p:nvCxnSpPr>
        <p:spPr>
          <a:xfrm>
            <a:off x="712800" y="3129120"/>
            <a:ext cx="7718400" cy="36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" name="Google Shape;57;p1"/>
          <p:cNvGrpSpPr/>
          <p:nvPr/>
        </p:nvGrpSpPr>
        <p:grpSpPr>
          <a:xfrm>
            <a:off x="713520" y="3857400"/>
            <a:ext cx="812880" cy="812880"/>
            <a:chOff x="713520" y="3857400"/>
            <a:chExt cx="812880" cy="812880"/>
          </a:xfrm>
        </p:grpSpPr>
        <p:sp>
          <p:nvSpPr>
            <p:cNvPr id="58" name="Google Shape;58;p1"/>
            <p:cNvSpPr/>
            <p:nvPr/>
          </p:nvSpPr>
          <p:spPr>
            <a:xfrm rot="10800000">
              <a:off x="713520" y="3857400"/>
              <a:ext cx="812880" cy="812880"/>
            </a:xfrm>
            <a:custGeom>
              <a:rect b="b" l="l" r="r" t="t"/>
              <a:pathLst>
                <a:path extrusionOk="0" fill="none" h="14418" w="14418">
                  <a:moveTo>
                    <a:pt x="14418" y="14417"/>
                  </a:moveTo>
                  <a:cubicBezTo>
                    <a:pt x="6456" y="14417"/>
                    <a:pt x="1" y="7962"/>
                    <a:pt x="1" y="0"/>
                  </a:cubicBez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 rot="10800000">
              <a:off x="713520" y="4143960"/>
              <a:ext cx="526320" cy="526320"/>
            </a:xfrm>
            <a:custGeom>
              <a:rect b="b" l="l" r="r" t="t"/>
              <a:pathLst>
                <a:path extrusionOk="0" fill="none" h="9336" w="9336">
                  <a:moveTo>
                    <a:pt x="9336" y="9336"/>
                  </a:moveTo>
                  <a:cubicBezTo>
                    <a:pt x="4179" y="9336"/>
                    <a:pt x="0" y="515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60" name="Google Shape;60;p1"/>
          <p:cNvCxnSpPr/>
          <p:nvPr/>
        </p:nvCxnSpPr>
        <p:spPr>
          <a:xfrm>
            <a:off x="712800" y="3637440"/>
            <a:ext cx="7718400" cy="36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" name="Google Shape;61;p1"/>
          <p:cNvGrpSpPr/>
          <p:nvPr/>
        </p:nvGrpSpPr>
        <p:grpSpPr>
          <a:xfrm>
            <a:off x="7392240" y="3631320"/>
            <a:ext cx="1038240" cy="1038600"/>
            <a:chOff x="7392240" y="3631320"/>
            <a:chExt cx="1038240" cy="1038600"/>
          </a:xfrm>
        </p:grpSpPr>
        <p:sp>
          <p:nvSpPr>
            <p:cNvPr id="62" name="Google Shape;62;p1"/>
            <p:cNvSpPr/>
            <p:nvPr/>
          </p:nvSpPr>
          <p:spPr>
            <a:xfrm>
              <a:off x="7871760" y="4110840"/>
              <a:ext cx="558720" cy="558720"/>
            </a:xfrm>
            <a:custGeom>
              <a:rect b="b" l="l" r="r" t="t"/>
              <a:pathLst>
                <a:path extrusionOk="0" fill="none" h="10269" w="10268">
                  <a:moveTo>
                    <a:pt x="1" y="10268"/>
                  </a:moveTo>
                  <a:cubicBezTo>
                    <a:pt x="1" y="9730"/>
                    <a:pt x="43" y="9201"/>
                    <a:pt x="122" y="8685"/>
                  </a:cubicBezTo>
                  <a:cubicBezTo>
                    <a:pt x="234" y="7966"/>
                    <a:pt x="419" y="7271"/>
                    <a:pt x="672" y="6609"/>
                  </a:cubicBezTo>
                  <a:cubicBezTo>
                    <a:pt x="929" y="5934"/>
                    <a:pt x="1255" y="5291"/>
                    <a:pt x="1643" y="4695"/>
                  </a:cubicBezTo>
                  <a:cubicBezTo>
                    <a:pt x="2035" y="4090"/>
                    <a:pt x="2486" y="3531"/>
                    <a:pt x="2992" y="3022"/>
                  </a:cubicBezTo>
                  <a:cubicBezTo>
                    <a:pt x="3498" y="2515"/>
                    <a:pt x="4056" y="2061"/>
                    <a:pt x="4657" y="1668"/>
                  </a:cubicBezTo>
                  <a:cubicBezTo>
                    <a:pt x="5252" y="1279"/>
                    <a:pt x="5891" y="947"/>
                    <a:pt x="6566" y="689"/>
                  </a:cubicBezTo>
                  <a:lnTo>
                    <a:pt x="6567" y="689"/>
                  </a:lnTo>
                  <a:cubicBezTo>
                    <a:pt x="7229" y="432"/>
                    <a:pt x="7920" y="243"/>
                    <a:pt x="8639" y="129"/>
                  </a:cubicBezTo>
                  <a:cubicBezTo>
                    <a:pt x="9168" y="43"/>
                    <a:pt x="9714" y="0"/>
                    <a:pt x="10267" y="0"/>
                  </a:cubicBez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266320" y="3644280"/>
              <a:ext cx="75600" cy="473400"/>
            </a:xfrm>
            <a:custGeom>
              <a:rect b="b" l="l" r="r" t="t"/>
              <a:pathLst>
                <a:path extrusionOk="0" fill="none" h="8701" w="1398">
                  <a:moveTo>
                    <a:pt x="1398" y="870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056440" y="3700800"/>
              <a:ext cx="172800" cy="447120"/>
            </a:xfrm>
            <a:custGeom>
              <a:rect b="b" l="l" r="r" t="t"/>
              <a:pathLst>
                <a:path extrusionOk="0" fill="none" h="8220" w="3178">
                  <a:moveTo>
                    <a:pt x="1" y="1"/>
                  </a:moveTo>
                  <a:lnTo>
                    <a:pt x="3177" y="8220"/>
                  </a:lnTo>
                  <a:lnTo>
                    <a:pt x="3178" y="8220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7863120" y="3799800"/>
              <a:ext cx="261720" cy="401400"/>
            </a:xfrm>
            <a:custGeom>
              <a:rect b="b" l="l" r="r" t="t"/>
              <a:pathLst>
                <a:path extrusionOk="0" fill="none" h="7380" w="4816">
                  <a:moveTo>
                    <a:pt x="0" y="1"/>
                  </a:moveTo>
                  <a:lnTo>
                    <a:pt x="4815" y="7380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7695000" y="3936960"/>
              <a:ext cx="339480" cy="338040"/>
            </a:xfrm>
            <a:custGeom>
              <a:rect b="b" l="l" r="r" t="t"/>
              <a:pathLst>
                <a:path extrusionOk="0" fill="none" h="6217" w="6243">
                  <a:moveTo>
                    <a:pt x="1" y="0"/>
                  </a:moveTo>
                  <a:lnTo>
                    <a:pt x="6242" y="6216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7558560" y="4106160"/>
              <a:ext cx="402480" cy="260280"/>
            </a:xfrm>
            <a:custGeom>
              <a:rect b="b" l="l" r="r" t="t"/>
              <a:pathLst>
                <a:path extrusionOk="0" fill="none" h="4784" w="7401">
                  <a:moveTo>
                    <a:pt x="1" y="1"/>
                  </a:moveTo>
                  <a:lnTo>
                    <a:pt x="7400" y="4784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7460280" y="4299840"/>
              <a:ext cx="447840" cy="170640"/>
            </a:xfrm>
            <a:custGeom>
              <a:rect b="b" l="l" r="r" t="t"/>
              <a:pathLst>
                <a:path extrusionOk="0" fill="none" h="3141" w="8234">
                  <a:moveTo>
                    <a:pt x="1" y="0"/>
                  </a:moveTo>
                  <a:lnTo>
                    <a:pt x="8233" y="3141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85300" lIns="91425" spcFirstLastPara="1" rIns="91425" wrap="square" tIns="85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7404480" y="4509720"/>
              <a:ext cx="473760" cy="73800"/>
            </a:xfrm>
            <a:custGeom>
              <a:rect b="b" l="l" r="r" t="t"/>
              <a:pathLst>
                <a:path extrusionOk="0" fill="none" h="1360" w="8706">
                  <a:moveTo>
                    <a:pt x="8705" y="1360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7392240" y="3631320"/>
              <a:ext cx="1038240" cy="1038600"/>
            </a:xfrm>
            <a:custGeom>
              <a:rect b="b" l="l" r="r" t="t"/>
              <a:pathLst>
                <a:path extrusionOk="0" fill="none" h="19080" w="19074">
                  <a:moveTo>
                    <a:pt x="1" y="19079"/>
                  </a:moveTo>
                  <a:cubicBezTo>
                    <a:pt x="1" y="18079"/>
                    <a:pt x="76" y="17097"/>
                    <a:pt x="226" y="16137"/>
                  </a:cubicBezTo>
                  <a:cubicBezTo>
                    <a:pt x="433" y="14801"/>
                    <a:pt x="779" y="13510"/>
                    <a:pt x="1248" y="12281"/>
                  </a:cubicBezTo>
                  <a:cubicBezTo>
                    <a:pt x="1724" y="11027"/>
                    <a:pt x="2332" y="9833"/>
                    <a:pt x="3051" y="8724"/>
                  </a:cubicBezTo>
                  <a:cubicBezTo>
                    <a:pt x="3779" y="7599"/>
                    <a:pt x="4619" y="6558"/>
                    <a:pt x="5556" y="5617"/>
                  </a:cubicBezTo>
                  <a:cubicBezTo>
                    <a:pt x="6496" y="4675"/>
                    <a:pt x="7532" y="3830"/>
                    <a:pt x="8649" y="3099"/>
                  </a:cubicBezTo>
                  <a:cubicBezTo>
                    <a:pt x="9754" y="2375"/>
                    <a:pt x="10944" y="1760"/>
                    <a:pt x="12195" y="1281"/>
                  </a:cubicBezTo>
                  <a:lnTo>
                    <a:pt x="12199" y="1281"/>
                  </a:lnTo>
                  <a:cubicBezTo>
                    <a:pt x="13429" y="803"/>
                    <a:pt x="14713" y="450"/>
                    <a:pt x="16047" y="240"/>
                  </a:cubicBezTo>
                  <a:cubicBezTo>
                    <a:pt x="17033" y="81"/>
                    <a:pt x="18045" y="1"/>
                    <a:pt x="19074" y="1"/>
                  </a:cubicBez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1" name="Google Shape;71;p1"/>
          <p:cNvGrpSpPr/>
          <p:nvPr/>
        </p:nvGrpSpPr>
        <p:grpSpPr>
          <a:xfrm>
            <a:off x="7617960" y="486360"/>
            <a:ext cx="812880" cy="812880"/>
            <a:chOff x="7617960" y="486360"/>
            <a:chExt cx="812880" cy="812880"/>
          </a:xfrm>
        </p:grpSpPr>
        <p:sp>
          <p:nvSpPr>
            <p:cNvPr id="72" name="Google Shape;72;p1"/>
            <p:cNvSpPr/>
            <p:nvPr/>
          </p:nvSpPr>
          <p:spPr>
            <a:xfrm>
              <a:off x="7617960" y="486360"/>
              <a:ext cx="812880" cy="812880"/>
            </a:xfrm>
            <a:custGeom>
              <a:rect b="b" l="l" r="r" t="t"/>
              <a:pathLst>
                <a:path extrusionOk="0" fill="none" h="14418" w="14418">
                  <a:moveTo>
                    <a:pt x="14418" y="14417"/>
                  </a:moveTo>
                  <a:cubicBezTo>
                    <a:pt x="6456" y="14417"/>
                    <a:pt x="1" y="7962"/>
                    <a:pt x="1" y="0"/>
                  </a:cubicBez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7904520" y="486360"/>
              <a:ext cx="526320" cy="526320"/>
            </a:xfrm>
            <a:custGeom>
              <a:rect b="b" l="l" r="r" t="t"/>
              <a:pathLst>
                <a:path extrusionOk="0" fill="none" h="9336" w="9336">
                  <a:moveTo>
                    <a:pt x="9336" y="9336"/>
                  </a:moveTo>
                  <a:cubicBezTo>
                    <a:pt x="4179" y="9336"/>
                    <a:pt x="0" y="515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E3B36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74" name="Google Shape;74;p1"/>
          <p:cNvCxnSpPr/>
          <p:nvPr/>
        </p:nvCxnSpPr>
        <p:spPr>
          <a:xfrm>
            <a:off x="712800" y="1603080"/>
            <a:ext cx="7718400" cy="36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"/>
          <p:cNvSpPr/>
          <p:nvPr/>
        </p:nvSpPr>
        <p:spPr>
          <a:xfrm>
            <a:off x="713160" y="473400"/>
            <a:ext cx="7717320" cy="4196520"/>
          </a:xfrm>
          <a:custGeom>
            <a:rect b="b" l="l" r="r" t="t"/>
            <a:pathLst>
              <a:path extrusionOk="0" fill="none" h="92601" w="170276">
                <a:moveTo>
                  <a:pt x="170276" y="3559"/>
                </a:moveTo>
                <a:lnTo>
                  <a:pt x="170276" y="89042"/>
                </a:lnTo>
                <a:lnTo>
                  <a:pt x="168898" y="89042"/>
                </a:lnTo>
                <a:cubicBezTo>
                  <a:pt x="168600" y="89042"/>
                  <a:pt x="168319" y="89100"/>
                  <a:pt x="168062" y="89207"/>
                </a:cubicBezTo>
                <a:cubicBezTo>
                  <a:pt x="167795" y="89320"/>
                  <a:pt x="167553" y="89483"/>
                  <a:pt x="167350" y="89686"/>
                </a:cubicBezTo>
                <a:cubicBezTo>
                  <a:pt x="167148" y="89888"/>
                  <a:pt x="166986" y="90132"/>
                  <a:pt x="166875" y="90402"/>
                </a:cubicBezTo>
                <a:cubicBezTo>
                  <a:pt x="166775" y="90653"/>
                  <a:pt x="166718" y="90930"/>
                  <a:pt x="166718" y="91218"/>
                </a:cubicBezTo>
                <a:lnTo>
                  <a:pt x="166718" y="92601"/>
                </a:lnTo>
                <a:lnTo>
                  <a:pt x="3558" y="92601"/>
                </a:lnTo>
                <a:lnTo>
                  <a:pt x="3558" y="91218"/>
                </a:lnTo>
                <a:cubicBezTo>
                  <a:pt x="3558" y="90018"/>
                  <a:pt x="2582" y="89042"/>
                  <a:pt x="1379" y="89042"/>
                </a:cubicBezTo>
                <a:lnTo>
                  <a:pt x="0" y="89042"/>
                </a:lnTo>
                <a:lnTo>
                  <a:pt x="0" y="3559"/>
                </a:lnTo>
                <a:lnTo>
                  <a:pt x="1379" y="3559"/>
                </a:lnTo>
                <a:cubicBezTo>
                  <a:pt x="2582" y="3559"/>
                  <a:pt x="3558" y="2583"/>
                  <a:pt x="3558" y="1380"/>
                </a:cubicBezTo>
                <a:lnTo>
                  <a:pt x="3558" y="1"/>
                </a:lnTo>
                <a:lnTo>
                  <a:pt x="166718" y="1"/>
                </a:lnTo>
                <a:lnTo>
                  <a:pt x="166718" y="1380"/>
                </a:lnTo>
                <a:cubicBezTo>
                  <a:pt x="166718" y="2583"/>
                  <a:pt x="167695" y="3559"/>
                  <a:pt x="168898" y="3559"/>
                </a:cubicBezTo>
                <a:close/>
              </a:path>
            </a:pathLst>
          </a:custGeom>
          <a:noFill/>
          <a:ln cap="flat" cmpd="sng" w="9525">
            <a:solidFill>
              <a:srgbClr val="E3B36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1624205" y="809100"/>
            <a:ext cx="5895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68"/>
              <a:buFont typeface="Arial"/>
              <a:buNone/>
            </a:pPr>
            <a:r>
              <a:rPr b="0" i="0" lang="en-US" sz="2868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FCA et LLM</a:t>
            </a:r>
            <a:endParaRPr b="0" i="0" sz="2868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871555" y="2340840"/>
            <a:ext cx="74004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Un LLM peut-il calculer un treillis de concepts ?</a:t>
            </a:r>
            <a:endParaRPr b="0" i="0" sz="1800" u="none" cap="none" strike="noStrik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526400" y="3893081"/>
            <a:ext cx="17994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 :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Anthony Hommais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Fay Corentin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5592850" y="3893081"/>
            <a:ext cx="17994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Encadrant :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Marianne Huchard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Yulin Zhang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" title="Logo_FD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2574" y="475350"/>
            <a:ext cx="1137223" cy="11337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"/>
          <p:cNvSpPr txBox="1"/>
          <p:nvPr/>
        </p:nvSpPr>
        <p:spPr>
          <a:xfrm>
            <a:off x="4439250" y="4724525"/>
            <a:ext cx="265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" title="Logo_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5400" y="360050"/>
            <a:ext cx="1369699" cy="13696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 txBox="1"/>
          <p:nvPr/>
        </p:nvSpPr>
        <p:spPr>
          <a:xfrm>
            <a:off x="3672050" y="3193713"/>
            <a:ext cx="1799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 : UM &amp; LIRMM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2"/>
          <p:cNvCxnSpPr/>
          <p:nvPr/>
        </p:nvCxnSpPr>
        <p:spPr>
          <a:xfrm>
            <a:off x="164105" y="2192800"/>
            <a:ext cx="3533700" cy="75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"/>
          <p:cNvSpPr/>
          <p:nvPr/>
        </p:nvSpPr>
        <p:spPr>
          <a:xfrm>
            <a:off x="2924280" y="547105"/>
            <a:ext cx="32955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Découverte</a:t>
            </a:r>
            <a:endParaRPr b="0" i="0" sz="23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164100" y="1195475"/>
            <a:ext cx="35337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l’Analyse Formelle de Concepts (AFC ou FCA)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91" name="Google Shape;91;p2"/>
          <p:cNvCxnSpPr/>
          <p:nvPr/>
        </p:nvCxnSpPr>
        <p:spPr>
          <a:xfrm>
            <a:off x="164105" y="3175275"/>
            <a:ext cx="3533700" cy="75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p2" title="pngtreethinking-emoj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9875" y="1555805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4439250" y="4605300"/>
            <a:ext cx="265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64100" y="2266800"/>
            <a:ext cx="4004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Comparing performance of algorithms for generating concept lattices                          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Sergei O. Kuznetsov &amp; Sergei A. Obiedkov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64100" y="3223550"/>
            <a:ext cx="4004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to Agents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Alan Blount, Antonio Gulli, Shubham Saboo, Michael Zimmermann, and Vladimir Vuskovic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4eae08aa4_0_52"/>
          <p:cNvSpPr txBox="1"/>
          <p:nvPr/>
        </p:nvSpPr>
        <p:spPr>
          <a:xfrm>
            <a:off x="4439250" y="4605300"/>
            <a:ext cx="265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e4eae08aa4_0_52"/>
          <p:cNvSpPr txBox="1"/>
          <p:nvPr/>
        </p:nvSpPr>
        <p:spPr>
          <a:xfrm>
            <a:off x="2442750" y="584200"/>
            <a:ext cx="42585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AFC c’est quoi 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e4eae08aa4_0_52"/>
          <p:cNvSpPr txBox="1"/>
          <p:nvPr/>
        </p:nvSpPr>
        <p:spPr>
          <a:xfrm>
            <a:off x="710050" y="1675825"/>
            <a:ext cx="7090800" cy="24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L'</a:t>
            </a: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analyse formelle de concepts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 une méthode mathématique permettant :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d’analyser des relations entre objets et attributs,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d’extraire automatiquement des groupes cohérents,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 d’organiser ces groupes sous forme de treillis.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2952905" y="555290"/>
            <a:ext cx="3238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Nos définitions</a:t>
            </a:r>
            <a:endParaRPr b="0" i="0" sz="4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433575" y="2553975"/>
            <a:ext cx="30534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objets / attributs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 formel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9" name="Google Shape;109;p3"/>
          <p:cNvGraphicFramePr/>
          <p:nvPr/>
        </p:nvGraphicFramePr>
        <p:xfrm>
          <a:off x="3667900" y="183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{9D14995F-D36E-41BB-952E-FFB9BBE608AE}</a:tableStyleId>
              </a:tblPr>
              <a:tblGrid>
                <a:gridCol w="1199350"/>
                <a:gridCol w="1199350"/>
                <a:gridCol w="1199350"/>
                <a:gridCol w="1199350"/>
              </a:tblGrid>
              <a:tr h="68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8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8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8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0" name="Google Shape;110;p3" title="pink-flamingo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9800" y="2515475"/>
            <a:ext cx="682000" cy="68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5107000" y="2557525"/>
            <a:ext cx="702900" cy="5979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" title="pivert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6013" y="3197475"/>
            <a:ext cx="489568" cy="67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 title="giant-ott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9796" y="3879475"/>
            <a:ext cx="682000" cy="68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 title="Ailes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0000" y="1857412"/>
            <a:ext cx="616900" cy="6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5107000" y="3238338"/>
            <a:ext cx="702900" cy="5979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 title="water.jp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26225" y="1883300"/>
            <a:ext cx="1062200" cy="5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7505875" y="2557525"/>
            <a:ext cx="702900" cy="5979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505875" y="3921525"/>
            <a:ext cx="702900" cy="5979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 title="fish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100" y="1785663"/>
            <a:ext cx="962200" cy="76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/>
          <p:nvPr/>
        </p:nvSpPr>
        <p:spPr>
          <a:xfrm>
            <a:off x="6306438" y="2557525"/>
            <a:ext cx="702900" cy="5979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320750" y="3921525"/>
            <a:ext cx="702900" cy="5979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4439250" y="4605300"/>
            <a:ext cx="265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4eae08aa4_0_11"/>
          <p:cNvSpPr txBox="1"/>
          <p:nvPr/>
        </p:nvSpPr>
        <p:spPr>
          <a:xfrm>
            <a:off x="1239613" y="573125"/>
            <a:ext cx="3053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concepts formels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g3e4eae08aa4_0_11" title="test_fr-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0775" y="-162325"/>
            <a:ext cx="4441631" cy="4838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" name="Google Shape;129;g3e4eae08aa4_0_11"/>
          <p:cNvGraphicFramePr/>
          <p:nvPr/>
        </p:nvGraphicFramePr>
        <p:xfrm>
          <a:off x="312200" y="128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{9D14995F-D36E-41BB-952E-FFB9BBE608AE}</a:tableStyleId>
              </a:tblPr>
              <a:tblGrid>
                <a:gridCol w="1157450"/>
                <a:gridCol w="2337600"/>
                <a:gridCol w="1747525"/>
              </a:tblGrid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Intent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Extent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Concept 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A86E8"/>
                          </a:solidFill>
                        </a:rPr>
                        <a:t>Mange du poisson &amp; Habitat marin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A86E8"/>
                          </a:solidFill>
                        </a:rPr>
                        <a:t>Loutre géante &amp; Flamant-rose</a:t>
                      </a:r>
                      <a:endParaRPr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6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Concept 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6AA84F"/>
                          </a:solidFill>
                        </a:rPr>
                        <a:t>Ailes &amp; Mange du poisson &amp; Habitat marin</a:t>
                      </a:r>
                      <a:endParaRPr sz="1400" u="none" cap="none" strike="noStrike">
                        <a:solidFill>
                          <a:srgbClr val="6AA84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6AA84F"/>
                          </a:solidFill>
                        </a:rPr>
                        <a:t>Flamant-rose</a:t>
                      </a:r>
                      <a:endParaRPr sz="1400" u="none" cap="none" strike="noStrike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g3e4eae08aa4_0_11"/>
          <p:cNvSpPr txBox="1"/>
          <p:nvPr/>
        </p:nvSpPr>
        <p:spPr>
          <a:xfrm>
            <a:off x="4439250" y="4605300"/>
            <a:ext cx="265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e4eae08aa4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419825"/>
            <a:ext cx="2911200" cy="1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e4eae08aa4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4800" y="3419821"/>
            <a:ext cx="2769026" cy="1302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596550" y="1341750"/>
            <a:ext cx="28671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Treillis,</a:t>
            </a:r>
            <a:endParaRPr b="0" i="0" sz="2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Diagramme de Hasse</a:t>
            </a:r>
            <a:endParaRPr b="0" i="0" sz="2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( par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Graphviz 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596550" y="3570350"/>
            <a:ext cx="34047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Explosion Combinatoire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d’ordre : O(2^n)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4" title="Hasse-f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3275" y="258750"/>
            <a:ext cx="4246374" cy="46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4439250" y="4605300"/>
            <a:ext cx="265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4eae08aa4_0_39"/>
          <p:cNvSpPr txBox="1"/>
          <p:nvPr/>
        </p:nvSpPr>
        <p:spPr>
          <a:xfrm>
            <a:off x="4439250" y="4605300"/>
            <a:ext cx="265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e4eae08aa4_0_39"/>
          <p:cNvSpPr/>
          <p:nvPr/>
        </p:nvSpPr>
        <p:spPr>
          <a:xfrm>
            <a:off x="2952900" y="555296"/>
            <a:ext cx="3238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.dot</a:t>
            </a:r>
            <a:endParaRPr b="0" i="0" sz="4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" name="Google Shape;147;g3e4eae08aa4_0_39"/>
          <p:cNvSpPr txBox="1"/>
          <p:nvPr/>
        </p:nvSpPr>
        <p:spPr>
          <a:xfrm>
            <a:off x="906750" y="1557800"/>
            <a:ext cx="72579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digraph G {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rankdir=BT;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[shape=record,style=filled,fillcolor=lightblue,label="{0 (I: 0, E: 3)||}"];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[shape=record,style=filled,label="{1 (I: 1, E: 2)|Ailes\n|Pivert\n}"];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[shape=record,style=filled,label="{2 (I: 3, E: 1)||Flamant-rose\n}"];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[shape=record,style=filled,label="{3 (I: 2, E: 2)|Mange du poisson\nHabitat marin\n|Loutre géante\n}"];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1 -&gt; 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2 -&gt; 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2 -&gt;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3 -&gt; 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/>
        </p:nvSpPr>
        <p:spPr>
          <a:xfrm>
            <a:off x="2437100" y="552225"/>
            <a:ext cx="3924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Résultats de l’année précédente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3626000" y="1259625"/>
            <a:ext cx="15471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Approches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 flipH="1">
            <a:off x="2847950" y="1743400"/>
            <a:ext cx="1163700" cy="43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5"/>
          <p:cNvCxnSpPr/>
          <p:nvPr/>
        </p:nvCxnSpPr>
        <p:spPr>
          <a:xfrm>
            <a:off x="4771050" y="1739650"/>
            <a:ext cx="1130100" cy="45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5"/>
          <p:cNvSpPr txBox="1"/>
          <p:nvPr/>
        </p:nvSpPr>
        <p:spPr>
          <a:xfrm>
            <a:off x="1013200" y="2131350"/>
            <a:ext cx="15837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 direct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5"/>
          <p:cNvCxnSpPr>
            <a:stCxn id="156" idx="2"/>
          </p:cNvCxnSpPr>
          <p:nvPr/>
        </p:nvCxnSpPr>
        <p:spPr>
          <a:xfrm>
            <a:off x="1805050" y="2564850"/>
            <a:ext cx="2400" cy="52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5"/>
          <p:cNvSpPr/>
          <p:nvPr/>
        </p:nvSpPr>
        <p:spPr>
          <a:xfrm>
            <a:off x="912850" y="3295125"/>
            <a:ext cx="1784400" cy="12825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912850" y="3340775"/>
            <a:ext cx="184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(15x15)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1260850" y="3879325"/>
            <a:ext cx="10908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 ≥ 80%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5953100" y="2190550"/>
            <a:ext cx="22071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Génération de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7055450" y="2624050"/>
            <a:ext cx="2400" cy="52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5"/>
          <p:cNvSpPr/>
          <p:nvPr/>
        </p:nvSpPr>
        <p:spPr>
          <a:xfrm>
            <a:off x="6164450" y="3295125"/>
            <a:ext cx="1784400" cy="12825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6193250" y="3461775"/>
            <a:ext cx="17556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"Either it barely passes or it falls apart"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4439250" y="4605300"/>
            <a:ext cx="265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857160" y="762120"/>
            <a:ext cx="7429320" cy="73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b="0" i="0" lang="en-US" sz="222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Objectifs du TER</a:t>
            </a:r>
            <a:endParaRPr b="0" i="0" sz="22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57350" y="1495073"/>
            <a:ext cx="74292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Faire générer aux LLMs du code produisant automatiquement un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treillis de concepts formels complet et correct.</a:t>
            </a:r>
            <a:endParaRPr b="0" i="0" sz="23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172" name="Google Shape;172;p6"/>
          <p:cNvCxnSpPr/>
          <p:nvPr/>
        </p:nvCxnSpPr>
        <p:spPr>
          <a:xfrm>
            <a:off x="170105" y="2581600"/>
            <a:ext cx="8803800" cy="381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>
            <a:stCxn id="174" idx="0"/>
          </p:cNvCxnSpPr>
          <p:nvPr/>
        </p:nvCxnSpPr>
        <p:spPr>
          <a:xfrm rot="10800000">
            <a:off x="4568400" y="2601300"/>
            <a:ext cx="3600" cy="20040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6"/>
          <p:cNvSpPr txBox="1"/>
          <p:nvPr/>
        </p:nvSpPr>
        <p:spPr>
          <a:xfrm>
            <a:off x="1090775" y="3053250"/>
            <a:ext cx="23184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Évaluer la capacité des différents LLM à générer un tel code.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5198275" y="3014475"/>
            <a:ext cx="30441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Étudier l’impact de la taille et la structure des jeux de données sur les performances des implémentations générées par les LLM.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4439250" y="4605300"/>
            <a:ext cx="265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/>
        </p:nvSpPr>
        <p:spPr>
          <a:xfrm>
            <a:off x="1315650" y="570500"/>
            <a:ext cx="65127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 approches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7"/>
          <p:cNvCxnSpPr/>
          <p:nvPr/>
        </p:nvCxnSpPr>
        <p:spPr>
          <a:xfrm>
            <a:off x="179230" y="1792050"/>
            <a:ext cx="3225300" cy="108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7"/>
          <p:cNvCxnSpPr/>
          <p:nvPr/>
        </p:nvCxnSpPr>
        <p:spPr>
          <a:xfrm flipH="1" rot="10800000">
            <a:off x="4555400" y="2601375"/>
            <a:ext cx="12900" cy="20445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7"/>
          <p:cNvCxnSpPr/>
          <p:nvPr/>
        </p:nvCxnSpPr>
        <p:spPr>
          <a:xfrm>
            <a:off x="4112050" y="2601425"/>
            <a:ext cx="883800" cy="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7"/>
          <p:cNvCxnSpPr/>
          <p:nvPr/>
        </p:nvCxnSpPr>
        <p:spPr>
          <a:xfrm>
            <a:off x="3404650" y="1802725"/>
            <a:ext cx="707400" cy="7989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7"/>
          <p:cNvCxnSpPr/>
          <p:nvPr/>
        </p:nvCxnSpPr>
        <p:spPr>
          <a:xfrm flipH="1">
            <a:off x="5709425" y="1807300"/>
            <a:ext cx="3258600" cy="63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7"/>
          <p:cNvCxnSpPr/>
          <p:nvPr/>
        </p:nvCxnSpPr>
        <p:spPr>
          <a:xfrm flipH="1">
            <a:off x="5002000" y="1813373"/>
            <a:ext cx="707400" cy="7884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7"/>
          <p:cNvSpPr txBox="1"/>
          <p:nvPr/>
        </p:nvSpPr>
        <p:spPr>
          <a:xfrm>
            <a:off x="460950" y="2857050"/>
            <a:ext cx="38154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Génération classique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sur la correction structurelle des treillis générés.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5002000" y="2857050"/>
            <a:ext cx="38154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Génération “memory-aware”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sur la correction structurelle avec des optimisations mémoire face à l’explosion combinatoire.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8" title="bulle_Edit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579735">
            <a:off x="5904651" y="2686315"/>
            <a:ext cx="2218797" cy="2415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8" title="bulle_Edit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9125" y="942000"/>
            <a:ext cx="3496400" cy="236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8" title="bulle_Edit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9147" y="1428450"/>
            <a:ext cx="3129750" cy="22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 txBox="1"/>
          <p:nvPr/>
        </p:nvSpPr>
        <p:spPr>
          <a:xfrm>
            <a:off x="2025300" y="611550"/>
            <a:ext cx="50934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problématiques rencontrées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1150125" y="1852612"/>
            <a:ext cx="2350500" cy="13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Problème 1 : Définir ce qu’est un </a:t>
            </a:r>
            <a:endParaRPr b="0" i="0" sz="1800" u="none" cap="none" strike="noStrike">
              <a:solidFill>
                <a:schemeClr val="dk2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“bon résultat”</a:t>
            </a:r>
            <a:endParaRPr b="0" i="0" sz="1800" u="none" cap="none" strike="noStrike">
              <a:solidFill>
                <a:schemeClr val="dk2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5546925" y="1464975"/>
            <a:ext cx="27912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Problème 2 : Deux treillis équivalent peuvent être écrits différemment</a:t>
            </a:r>
            <a:endParaRPr b="0" i="0" sz="1800" u="none" cap="none" strike="noStrike">
              <a:solidFill>
                <a:schemeClr val="dk2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6207600" y="3212500"/>
            <a:ext cx="19176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Problème 3 : représentation simplifié vs explicites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8" title="bonhomme_Edit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2738" y="2747475"/>
            <a:ext cx="1578525" cy="23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485fa2e12_0_85"/>
          <p:cNvSpPr txBox="1"/>
          <p:nvPr/>
        </p:nvSpPr>
        <p:spPr>
          <a:xfrm>
            <a:off x="1556275" y="611550"/>
            <a:ext cx="59604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Comment définir l’équivalence des treillis ?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g3e485fa2e12_0_85"/>
          <p:cNvCxnSpPr/>
          <p:nvPr/>
        </p:nvCxnSpPr>
        <p:spPr>
          <a:xfrm>
            <a:off x="179230" y="1792050"/>
            <a:ext cx="3225300" cy="108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g3e485fa2e12_0_85"/>
          <p:cNvCxnSpPr/>
          <p:nvPr/>
        </p:nvCxnSpPr>
        <p:spPr>
          <a:xfrm flipH="1" rot="10800000">
            <a:off x="173425" y="3076025"/>
            <a:ext cx="3924900" cy="15837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g3e485fa2e12_0_85"/>
          <p:cNvCxnSpPr/>
          <p:nvPr/>
        </p:nvCxnSpPr>
        <p:spPr>
          <a:xfrm>
            <a:off x="4094575" y="3076050"/>
            <a:ext cx="883800" cy="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g3e485fa2e12_0_85"/>
          <p:cNvCxnSpPr>
            <a:endCxn id="208" idx="2"/>
          </p:cNvCxnSpPr>
          <p:nvPr/>
        </p:nvCxnSpPr>
        <p:spPr>
          <a:xfrm flipH="1" rot="10800000">
            <a:off x="3404575" y="1428450"/>
            <a:ext cx="1131900" cy="3744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g3e485fa2e12_0_85"/>
          <p:cNvCxnSpPr/>
          <p:nvPr/>
        </p:nvCxnSpPr>
        <p:spPr>
          <a:xfrm flipH="1">
            <a:off x="5709425" y="1807300"/>
            <a:ext cx="3258600" cy="63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g3e485fa2e12_0_85"/>
          <p:cNvCxnSpPr>
            <a:endCxn id="208" idx="2"/>
          </p:cNvCxnSpPr>
          <p:nvPr/>
        </p:nvCxnSpPr>
        <p:spPr>
          <a:xfrm rot="10800000">
            <a:off x="4536475" y="1428450"/>
            <a:ext cx="1173000" cy="3849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g3e485fa2e12_0_85"/>
          <p:cNvCxnSpPr/>
          <p:nvPr/>
        </p:nvCxnSpPr>
        <p:spPr>
          <a:xfrm>
            <a:off x="4979200" y="3076050"/>
            <a:ext cx="3596100" cy="1419300"/>
          </a:xfrm>
          <a:prstGeom prst="straightConnector1">
            <a:avLst/>
          </a:prstGeom>
          <a:noFill/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g3e485fa2e12_0_85"/>
          <p:cNvSpPr txBox="1"/>
          <p:nvPr/>
        </p:nvSpPr>
        <p:spPr>
          <a:xfrm>
            <a:off x="515725" y="2035500"/>
            <a:ext cx="2400600" cy="1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Concepts formels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e485fa2e12_0_85"/>
          <p:cNvSpPr txBox="1"/>
          <p:nvPr/>
        </p:nvSpPr>
        <p:spPr>
          <a:xfrm>
            <a:off x="6174700" y="2051550"/>
            <a:ext cx="2400600" cy="1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de couverture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e485fa2e12_0_85"/>
          <p:cNvSpPr txBox="1"/>
          <p:nvPr/>
        </p:nvSpPr>
        <p:spPr>
          <a:xfrm>
            <a:off x="3395525" y="3582650"/>
            <a:ext cx="21177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FCA4J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e485fa2e12_0_85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857150" y="762123"/>
            <a:ext cx="7429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Problème 2 : Deux treillis équivalents peuvent être écrits différemment</a:t>
            </a:r>
            <a:endParaRPr b="0" i="0" sz="24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324050" y="2122225"/>
            <a:ext cx="35691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Variations possibles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Arrangement des nœuds différent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Identifiants différents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Labels complets vs labels réduits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893150" y="2749675"/>
            <a:ext cx="1049700" cy="37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B369"/>
          </a:solidFill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5469350" y="3600950"/>
            <a:ext cx="26910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Impossible de comparer directement les sorties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521775" y="1364575"/>
            <a:ext cx="315000" cy="11958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460275" y="2829625"/>
            <a:ext cx="438000" cy="4380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4eae08aa4_0_70"/>
          <p:cNvSpPr/>
          <p:nvPr/>
        </p:nvSpPr>
        <p:spPr>
          <a:xfrm>
            <a:off x="857150" y="762123"/>
            <a:ext cx="7429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Problème 2 : Deux treillis équivalents peuvent être écrits différemment</a:t>
            </a:r>
            <a:endParaRPr b="0" i="0" sz="24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36" name="Google Shape;236;g3e4eae08aa4_0_70"/>
          <p:cNvSpPr txBox="1"/>
          <p:nvPr/>
        </p:nvSpPr>
        <p:spPr>
          <a:xfrm>
            <a:off x="4539925" y="1537200"/>
            <a:ext cx="4394700" cy="3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digraph G {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rankdir=BT;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[shape=...,label="{0 (I: 0, E: 3)||}"];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[shape=...,label="{1 (I: 1, E: 2)|Ailes\n|Pivert\n}"];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[shape=...,label="{2 (I: 2, E: 2)|Mange du poisson\nHabitat marin\n|Loutre géante\n}"];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[shape=...,label="{3 (I: 3, E: 1)||Flamant-rose\n}"];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1 -&gt;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2 -&gt;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3 -&gt;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3 -&gt;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4eae08aa4_0_70"/>
          <p:cNvSpPr txBox="1"/>
          <p:nvPr/>
        </p:nvSpPr>
        <p:spPr>
          <a:xfrm>
            <a:off x="193875" y="1537200"/>
            <a:ext cx="4394700" cy="3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digraph G {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rankdir=BT;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[shape=...,label="{0 (I: 0, E: 3)||}"];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[shape=...,label="{1 (I: 1, E: 2)|Ailes\n|Pivert\n}"];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[shape=...,label="{2 (I: 3, E: 1)||Flamant-rose\n}"];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[shape=...,label="{3 (I: 2, E: 2)|Mange du poisson\nHabitat marin\n|Loutre géante\n}"];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1 -&gt;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2 -&gt;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2 -&gt;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3 -&gt;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e4eae08aa4_0_70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485fa2e12_3_2"/>
          <p:cNvSpPr/>
          <p:nvPr/>
        </p:nvSpPr>
        <p:spPr>
          <a:xfrm>
            <a:off x="857150" y="762123"/>
            <a:ext cx="7429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Problème 3 : représentation simplifié vs explicites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e485fa2e12_3_2"/>
          <p:cNvSpPr/>
          <p:nvPr/>
        </p:nvSpPr>
        <p:spPr>
          <a:xfrm>
            <a:off x="4047150" y="2692675"/>
            <a:ext cx="1049700" cy="37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B369"/>
          </a:solidFill>
          <a:ln cap="flat" cmpd="sng" w="9525">
            <a:solidFill>
              <a:srgbClr val="E3B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g3e485fa2e12_3_2" title="Hasse-f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250" y="1227723"/>
            <a:ext cx="3314655" cy="361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e485fa2e12_3_2" title="diapo_ful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4275" y="1227723"/>
            <a:ext cx="2843355" cy="36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e485fa2e12_3_2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4eae08aa4_0_79"/>
          <p:cNvSpPr/>
          <p:nvPr/>
        </p:nvSpPr>
        <p:spPr>
          <a:xfrm>
            <a:off x="857150" y="762123"/>
            <a:ext cx="7429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 prompts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4eae08aa4_0_79"/>
          <p:cNvSpPr txBox="1"/>
          <p:nvPr/>
        </p:nvSpPr>
        <p:spPr>
          <a:xfrm>
            <a:off x="336350" y="1420125"/>
            <a:ext cx="4110900" cy="3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Stratégies de prompting utilisées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 Engineering Framework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Rôle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Contexte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Objectif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Entrées attendues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Contraintes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 de sortie attendu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Critères de qualité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Amélioration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Chain-of-Thought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Étapes explicites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Incitation à raisonner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e4eae08aa4_0_79"/>
          <p:cNvSpPr txBox="1"/>
          <p:nvPr/>
        </p:nvSpPr>
        <p:spPr>
          <a:xfrm>
            <a:off x="4638950" y="2511825"/>
            <a:ext cx="4110900" cy="22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Gros prompts statiques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Peu d’interactions conversationnelles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reproductibilité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comparabilité entre modèles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Probablement sous-optimal pour exploiter pleinement un LLM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e4eae08aa4_0_79"/>
          <p:cNvSpPr txBox="1"/>
          <p:nvPr/>
        </p:nvSpPr>
        <p:spPr>
          <a:xfrm>
            <a:off x="5863400" y="1650700"/>
            <a:ext cx="3019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Choix méthodologique important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e4eae08aa4_0_79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g3e4eae08aa4_0_79" title="warn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800" y="1227725"/>
            <a:ext cx="1259050" cy="12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4eae08aa4_0_104"/>
          <p:cNvSpPr/>
          <p:nvPr/>
        </p:nvSpPr>
        <p:spPr>
          <a:xfrm>
            <a:off x="857150" y="762123"/>
            <a:ext cx="7429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Jeux de données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e4eae08aa4_0_104"/>
          <p:cNvSpPr txBox="1"/>
          <p:nvPr/>
        </p:nvSpPr>
        <p:spPr>
          <a:xfrm>
            <a:off x="913725" y="1469325"/>
            <a:ext cx="1829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Synthétique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e4eae08aa4_0_104"/>
          <p:cNvSpPr txBox="1"/>
          <p:nvPr/>
        </p:nvSpPr>
        <p:spPr>
          <a:xfrm>
            <a:off x="579050" y="2069100"/>
            <a:ext cx="2546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eg9_9.csv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eg20_20.csv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eg30_30.csv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eg40_40.csv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eg50_50.csv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eg80_80.csv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e4eae08aa4_0_104"/>
          <p:cNvSpPr txBox="1"/>
          <p:nvPr/>
        </p:nvSpPr>
        <p:spPr>
          <a:xfrm>
            <a:off x="371550" y="4332475"/>
            <a:ext cx="3772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https://github.com/OskrJF/TER-M1---Code-and-Test-sets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e4eae08aa4_0_104"/>
          <p:cNvSpPr txBox="1"/>
          <p:nvPr/>
        </p:nvSpPr>
        <p:spPr>
          <a:xfrm>
            <a:off x="5910375" y="1469325"/>
            <a:ext cx="1829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Réel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4eae08aa4_0_104"/>
          <p:cNvSpPr txBox="1"/>
          <p:nvPr/>
        </p:nvSpPr>
        <p:spPr>
          <a:xfrm>
            <a:off x="5105775" y="2069100"/>
            <a:ext cx="3438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balance-scale_binarized.csv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breast-cancer_binarized.csv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car_binarized.csv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chess_binarized.csv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cmc_binarized.csv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connect-4_binarized.csv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mushrooms_binarized.csv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e4eae08aa4_0_104"/>
          <p:cNvSpPr txBox="1"/>
          <p:nvPr/>
        </p:nvSpPr>
        <p:spPr>
          <a:xfrm>
            <a:off x="4772475" y="4332475"/>
            <a:ext cx="3772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https://gite.lirmm.fr/gutierre/fca4j-benchmark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4eae08aa4_0_104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485fa2e12_3_8"/>
          <p:cNvSpPr/>
          <p:nvPr/>
        </p:nvSpPr>
        <p:spPr>
          <a:xfrm>
            <a:off x="857150" y="762123"/>
            <a:ext cx="7429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Extrait des résultats</a:t>
            </a:r>
            <a:endParaRPr b="0" i="0" sz="31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275" name="Google Shape;275;g3e485fa2e12_3_8"/>
          <p:cNvGraphicFramePr/>
          <p:nvPr/>
        </p:nvGraphicFramePr>
        <p:xfrm>
          <a:off x="952500" y="130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{9D14995F-D36E-41BB-952E-FFB9BBE608AE}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Implémentation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Stratégie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eg40_40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eg50_50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Equivalence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FCA4J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Référence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1.26s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5.89s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Oui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84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Claude Sonnet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Claude Opus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Classique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Memory-aware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40.72s</a:t>
                      </a:r>
                      <a:endParaRPr sz="1400" u="none" cap="none" strike="noStrike">
                        <a:solidFill>
                          <a:srgbClr val="38761D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9.55s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13m 18s</a:t>
                      </a:r>
                      <a:endParaRPr sz="1400" u="none" cap="none" strike="noStrike">
                        <a:solidFill>
                          <a:srgbClr val="38761D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180.72s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Oui</a:t>
                      </a:r>
                      <a:endParaRPr sz="1400" u="none" cap="none" strike="noStrike">
                        <a:solidFill>
                          <a:srgbClr val="38761D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Oui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00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GPT-5.3 Codex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GPT-5.3 Codex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Classique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Memory-aware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48.02s</a:t>
                      </a:r>
                      <a:endParaRPr sz="1400" u="none" cap="none" strike="noStrike">
                        <a:solidFill>
                          <a:srgbClr val="38761D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188.63s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Timeout</a:t>
                      </a:r>
                      <a:endParaRPr sz="1400" u="none" cap="none" strike="noStrike">
                        <a:solidFill>
                          <a:srgbClr val="99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99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Timeout</a:t>
                      </a:r>
                      <a:endParaRPr sz="1400" u="none" cap="none" strike="noStrike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Oui </a:t>
                      </a: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partiel</a:t>
                      </a:r>
                      <a:endParaRPr sz="1400" u="none" cap="none" strike="noStrike">
                        <a:solidFill>
                          <a:srgbClr val="99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Oui </a:t>
                      </a: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partiel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79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Gemini 3.1 Pro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(preview)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Classique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4min 32s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Timeout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Oui </a:t>
                      </a: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partiel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76" name="Google Shape;276;g3e485fa2e12_3_8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>
            <a:off x="857150" y="762123"/>
            <a:ext cx="7429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Synthèse sur la différence de correction</a:t>
            </a:r>
            <a:endParaRPr b="0" i="0" sz="31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282" name="Google Shape;282;p10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{9D14995F-D36E-41BB-952E-FFB9BBE608AE}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9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Implémentation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Synthétique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Réel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Observation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49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Claude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100%</a:t>
                      </a:r>
                      <a:endParaRPr sz="14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100%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Stable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49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Gemini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80%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100%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Stable sauf sur </a:t>
                      </a: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timeout</a:t>
                      </a:r>
                      <a:endParaRPr sz="1400" u="none" cap="none" strike="noStrike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49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GPT Codex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80%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0%</a:t>
                      </a:r>
                      <a:endParaRPr sz="1400" u="none" cap="none" strike="noStrike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</a:rPr>
                        <a:t>Stable sauf sur </a:t>
                      </a: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timeout &amp; réel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49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Qwen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0%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0%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Échec systématique 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49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E3B369"/>
                          </a:solidFill>
                        </a:rPr>
                        <a:t>Kimi</a:t>
                      </a:r>
                      <a:endParaRPr sz="1400" u="none" cap="none" strike="noStrike">
                        <a:solidFill>
                          <a:srgbClr val="E3B369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0%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0%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990000"/>
                          </a:solidFill>
                        </a:rPr>
                        <a:t>Échec systématique 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3" name="Google Shape;283;p10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>
            <a:off x="857160" y="762120"/>
            <a:ext cx="742932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Arial"/>
              <a:buNone/>
            </a:pPr>
            <a:r>
              <a:rPr b="0" i="0" lang="en-US" sz="204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Conclusions de l’étude</a:t>
            </a:r>
            <a:endParaRPr b="0" i="0" sz="20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857160" y="1905120"/>
            <a:ext cx="7429320" cy="1980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Certains LLM parviennent à produire des implémentations capables de générer des treillis de concepts formels structurellement corrects.</a:t>
            </a:r>
            <a:endParaRPr b="0" i="0" sz="1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Cependant, ces performances restent fortement dépendantes du modèle et du cadre expérimental. </a:t>
            </a:r>
            <a:endParaRPr b="0" i="0" sz="1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4eae08aa4_0_136"/>
          <p:cNvSpPr/>
          <p:nvPr/>
        </p:nvSpPr>
        <p:spPr>
          <a:xfrm>
            <a:off x="857160" y="762120"/>
            <a:ext cx="74292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Arial"/>
              <a:buNone/>
            </a:pPr>
            <a:r>
              <a:rPr b="0" i="0" lang="en-US" sz="204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Conclusions du TER</a:t>
            </a:r>
            <a:endParaRPr b="0" i="0" sz="20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6" name="Google Shape;296;g3e4eae08aa4_0_136"/>
          <p:cNvSpPr txBox="1"/>
          <p:nvPr/>
        </p:nvSpPr>
        <p:spPr>
          <a:xfrm>
            <a:off x="4624800" y="1448550"/>
            <a:ext cx="4149600" cy="3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Difficultés rencontrées 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Prise en main d’un domaine nouveau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Mise en place d’un protocole expérimental rigoureux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Contraintes liées aux outils utilisés (GitHub Copilot)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e4eae08aa4_0_136"/>
          <p:cNvSpPr txBox="1"/>
          <p:nvPr/>
        </p:nvSpPr>
        <p:spPr>
          <a:xfrm>
            <a:off x="363650" y="1448550"/>
            <a:ext cx="4149600" cy="3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Apports du projet 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Mise en pratique d’un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 de recherche complet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Mise en place d’une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méthodologie expérimentale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structurée et reproductible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Développement de la capacité à lire, comprendre et exploiter des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articles scientifiques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e4eae08aa4_0_136"/>
          <p:cNvSpPr txBox="1"/>
          <p:nvPr/>
        </p:nvSpPr>
        <p:spPr>
          <a:xfrm>
            <a:off x="4293750" y="4605300"/>
            <a:ext cx="556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4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485fa2e12_0_125"/>
          <p:cNvSpPr/>
          <p:nvPr/>
        </p:nvSpPr>
        <p:spPr>
          <a:xfrm>
            <a:off x="857160" y="762120"/>
            <a:ext cx="74292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E3B369"/>
                </a:solidFill>
                <a:latin typeface="Work Sans"/>
                <a:ea typeface="Work Sans"/>
                <a:cs typeface="Work Sans"/>
                <a:sym typeface="Work Sans"/>
              </a:rPr>
              <a:t>Merci</a:t>
            </a:r>
            <a:endParaRPr b="0" i="0" sz="4800" u="none" cap="none" strike="noStrike">
              <a:solidFill>
                <a:srgbClr val="E3B369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4" name="Google Shape;304;g3e485fa2e12_0_125"/>
          <p:cNvSpPr/>
          <p:nvPr/>
        </p:nvSpPr>
        <p:spPr>
          <a:xfrm>
            <a:off x="857160" y="1905120"/>
            <a:ext cx="74292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B369"/>
              </a:buClr>
              <a:buSzPts val="10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E3B369"/>
                </a:solidFill>
                <a:latin typeface="Albert Sans"/>
                <a:ea typeface="Albert Sans"/>
                <a:cs typeface="Albert Sans"/>
                <a:sym typeface="Albert Sans"/>
              </a:rPr>
              <a:t>Nous remercions nos encadrantes pour leurs accompagnements tout au long de ce projet</a:t>
            </a:r>
            <a:endParaRPr b="0" i="0" sz="1500" u="none" cap="none" strike="noStrike">
              <a:solidFill>
                <a:srgbClr val="E3B369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E3B369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3B369"/>
              </a:buClr>
              <a:buSzPts val="10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E3B369"/>
                </a:solidFill>
                <a:latin typeface="Albert Sans"/>
                <a:ea typeface="Albert Sans"/>
                <a:cs typeface="Albert Sans"/>
                <a:sym typeface="Albert Sans"/>
              </a:rPr>
              <a:t>Nous remercions également les membres du jury pour leur attention</a:t>
            </a:r>
            <a:endParaRPr b="0" i="0" sz="1500" u="none" cap="none" strike="noStrike">
              <a:solidFill>
                <a:srgbClr val="E3B369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E3B369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3B369"/>
              </a:buClr>
              <a:buSzPts val="10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E3B369"/>
                </a:solidFill>
                <a:latin typeface="Albert Sans"/>
                <a:ea typeface="Albert Sans"/>
                <a:cs typeface="Albert Sans"/>
                <a:sym typeface="Albert Sans"/>
              </a:rPr>
              <a:t>Et enfin toutes les personnes ayant contribué indirectement à ce travail</a:t>
            </a:r>
            <a:endParaRPr b="0" i="0" sz="1500" u="none" cap="none" strike="noStrike">
              <a:solidFill>
                <a:srgbClr val="E3B369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E3B369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E3B36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5" name="Google Shape;305;g3e485fa2e12_0_125"/>
          <p:cNvSpPr txBox="1"/>
          <p:nvPr/>
        </p:nvSpPr>
        <p:spPr>
          <a:xfrm>
            <a:off x="1258050" y="4134425"/>
            <a:ext cx="70284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Alain Gutierrez, développeur de FCA4J.</a:t>
            </a:r>
            <a:endParaRPr b="0" i="0" sz="13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Groupe d’étudiant de l’année précédente : Valentino Cocks, Arame Diop, </a:t>
            </a:r>
            <a:endParaRPr b="0" i="0" sz="13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3B369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Oscar Jimenez Flores, Yazmín Mendoza</a:t>
            </a:r>
            <a:endParaRPr b="0" i="0" sz="13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E3B3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istorical Treaties that Changed the World by Slidesgo">
  <a:themeElements>
    <a:clrScheme name="Simple Light">
      <a:dk1>
        <a:srgbClr val="FFFFFF"/>
      </a:dk1>
      <a:lt1>
        <a:srgbClr val="08152F"/>
      </a:lt1>
      <a:dk2>
        <a:srgbClr val="162845"/>
      </a:dk2>
      <a:lt2>
        <a:srgbClr val="584B3E"/>
      </a:lt2>
      <a:accent1>
        <a:srgbClr val="AA7944"/>
      </a:accent1>
      <a:accent2>
        <a:srgbClr val="E3B369"/>
      </a:accent2>
      <a:accent3>
        <a:srgbClr val="FFE2C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2026-05-25T16:04:09Z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